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olly/Downloads/Sublime_Workspace/Zola_Workspace/www.polly.com/Jarvis-Agent/ppt/slides/title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66563" y="425500"/>
            <a:ext cx="42793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🥚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2966563" y="930325"/>
            <a:ext cx="4279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542705" y="625525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94208" y="425500"/>
            <a:ext cx="42793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🐣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3894208" y="930325"/>
            <a:ext cx="4279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470350" y="625525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821854" y="425500"/>
            <a:ext cx="42793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🦋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821854" y="930325"/>
            <a:ext cx="4279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397996" y="625525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749500" y="425500"/>
            <a:ext cx="42793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5749500" y="930325"/>
            <a:ext cx="4279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298574" y="1444675"/>
            <a:ext cx="4546702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Jarvis-Agent</a:t>
            </a:r>
            <a:endParaRPr lang="en-US" sz="5200" dirty="0"/>
          </a:p>
        </p:txBody>
      </p:sp>
      <p:sp>
        <p:nvSpPr>
          <p:cNvPr id="15" name="Text 12"/>
          <p:cNvSpPr/>
          <p:nvPr/>
        </p:nvSpPr>
        <p:spPr>
          <a:xfrm>
            <a:off x="3163860" y="2359075"/>
            <a:ext cx="281628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数码宝贝式 AI Agent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3538538" y="3079700"/>
            <a:ext cx="2066776" cy="349151"/>
          </a:xfrm>
          <a:prstGeom prst="roundRect">
            <a:avLst>
              <a:gd name="adj" fmla="val 43649"/>
            </a:avLst>
          </a:prstGeom>
          <a:solidFill>
            <a:srgbClr val="1A1D2E"/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3725763" y="3139976"/>
            <a:ext cx="17261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四阶段全部完成 · v0.4.0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726055" y="3809851"/>
            <a:ext cx="36918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0"/>
              </a:spcBef>
              <a:buNone/>
            </a:pPr>
            <a:r>
              <a:rPr lang="en-US" sz="15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从空白开始，探索进化，成为你的专属伙伴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3939735" y="4394002"/>
            <a:ext cx="12643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5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Polly Wang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03077"/>
          </a:xfrm>
          <a:prstGeom prst="rect">
            <a:avLst/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93552"/>
            <a:ext cx="9144000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7701"/>
            <a:ext cx="82906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🤔 现有 Agent 的困境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7950" y="993577"/>
            <a:ext cx="398335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它们是工具，不是伙伴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7950" y="1406277"/>
            <a:ext cx="39833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Code、Cursor、Windsurf…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7950" y="1736378"/>
            <a:ext cx="39833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功能越来越强，但本质没变——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7950" y="2066479"/>
            <a:ext cx="39833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用户请求 → Agent 响应 → 结束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7950" y="2422029"/>
            <a:ext cx="3905250" cy="762000"/>
          </a:xfrm>
          <a:prstGeom prst="rect">
            <a:avLst/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31763" y="2422029"/>
            <a:ext cx="0" cy="762000"/>
          </a:xfrm>
          <a:prstGeom prst="line">
            <a:avLst/>
          </a:prstGeom>
          <a:noFill/>
          <a:ln w="47625">
            <a:solidFill>
              <a:srgbClr val="6B72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726" y="2574429"/>
            <a:ext cx="35203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"技能满点的工具箱，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却需要你亲自去打开它。"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30651" y="993577"/>
            <a:ext cx="398350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三个零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30651" y="1406277"/>
            <a:ext cx="3905399" cy="787152"/>
          </a:xfrm>
          <a:prstGeom prst="roundRect">
            <a:avLst>
              <a:gd name="adj" fmla="val 9680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749701" y="1406277"/>
            <a:ext cx="0" cy="787152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46452" y="1533227"/>
            <a:ext cx="201748" cy="533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2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296644" y="1596628"/>
            <a:ext cx="12487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记忆持久性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96644" y="1831479"/>
            <a:ext cx="12487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每次对话都是"初次见面"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30651" y="2294930"/>
            <a:ext cx="3905399" cy="787152"/>
          </a:xfrm>
          <a:prstGeom prst="roundRect">
            <a:avLst>
              <a:gd name="adj" fmla="val 9680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749701" y="2294930"/>
            <a:ext cx="0" cy="787152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46452" y="2421880"/>
            <a:ext cx="201748" cy="533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2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296644" y="2485281"/>
            <a:ext cx="13990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主动思考力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96644" y="2720132"/>
            <a:ext cx="13990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只会等待被调用，从不主动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30651" y="3183582"/>
            <a:ext cx="3905399" cy="787152"/>
          </a:xfrm>
          <a:prstGeom prst="roundRect">
            <a:avLst>
              <a:gd name="adj" fmla="val 9680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749701" y="3183582"/>
            <a:ext cx="0" cy="787152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46452" y="3310533"/>
            <a:ext cx="201748" cy="533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2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296644" y="3373934"/>
            <a:ext cx="104927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个性进化力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96644" y="3608784"/>
            <a:ext cx="104927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千人一面的通用助手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03150"/>
            <a:ext cx="829066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🧬 四大内核：Agent 的灵魂设计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7950" y="644426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KERNELS — 什么是"真正的 Agent"？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96702"/>
            <a:ext cx="4051250" cy="1754386"/>
          </a:xfrm>
          <a:prstGeom prst="roundRect">
            <a:avLst>
              <a:gd name="adj" fmla="val 5791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76250" y="996702"/>
            <a:ext cx="0" cy="1754386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3001" y="1198959"/>
            <a:ext cx="14573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92076" y="1149102"/>
            <a:ext cx="6735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遇水搭桥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73001" y="1466404"/>
            <a:ext cx="373090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遇到新任务时自主创建能力，而非等待配置。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73001" y="1671340"/>
            <a:ext cx="373090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400"/>
              </a:spcBef>
              <a:buNone/>
            </a:pPr>
            <a:r>
              <a:rPr lang="en-US" sz="900" i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"遇到水，就搭一座桥。"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35401" y="996702"/>
            <a:ext cx="4051399" cy="1754386"/>
          </a:xfrm>
          <a:prstGeom prst="roundRect">
            <a:avLst>
              <a:gd name="adj" fmla="val 5791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654451" y="996702"/>
            <a:ext cx="0" cy="1754386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51202" y="1198959"/>
            <a:ext cx="14573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💪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70277" y="1149102"/>
            <a:ext cx="6735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肌肉涌现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51202" y="1466404"/>
            <a:ext cx="3731056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能力从交互中自然生长，而非预先编程。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51202" y="1671340"/>
            <a:ext cx="3731056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400"/>
              </a:spcBef>
              <a:buNone/>
            </a:pPr>
            <a:r>
              <a:rPr lang="en-US" sz="900" i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"能力不是配置出来的，是用出来的。"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878038"/>
            <a:ext cx="4051250" cy="1754386"/>
          </a:xfrm>
          <a:prstGeom prst="roundRect">
            <a:avLst>
              <a:gd name="adj" fmla="val 5791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6250" y="2878038"/>
            <a:ext cx="0" cy="1754386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3001" y="3080296"/>
            <a:ext cx="14573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🎭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92076" y="3030438"/>
            <a:ext cx="6735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渐进性格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3001" y="3347740"/>
            <a:ext cx="373090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骨架（价值观）由设计决定，肌肉（偏好）由交互涌现。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3001" y="3552676"/>
            <a:ext cx="373090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400"/>
              </a:spcBef>
              <a:buNone/>
            </a:pPr>
            <a:r>
              <a:rPr lang="en-US" sz="900" i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"每个 Jarvis 都独一无二——因为每个用户都独一无二。"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35401" y="2878038"/>
            <a:ext cx="4051399" cy="1754386"/>
          </a:xfrm>
          <a:prstGeom prst="roundRect">
            <a:avLst>
              <a:gd name="adj" fmla="val 5791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654451" y="2878038"/>
            <a:ext cx="0" cy="1754386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51202" y="3080296"/>
            <a:ext cx="14573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70277" y="3030438"/>
            <a:ext cx="6735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记忆迭代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51202" y="3347740"/>
            <a:ext cx="3731056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没有记忆就没有进化。持续记录 → 检索关联 → 形成判断。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51202" y="3552676"/>
            <a:ext cx="3731056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400"/>
              </a:spcBef>
              <a:buNone/>
            </a:pPr>
            <a:r>
              <a:rPr lang="en-US" sz="900" i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"没有记忆，就没有进化。"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26669" y="4784824"/>
            <a:ext cx="82906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不是等待配置的工具，而是主动探索的伙伴。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03150"/>
            <a:ext cx="829066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🧬 五维能力模型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7950" y="644426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DIMENSIONS — 一个完整 Agent 的能力全景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81000" y="945952"/>
            <a:ext cx="2709267" cy="1971824"/>
          </a:xfrm>
          <a:prstGeom prst="roundRect">
            <a:avLst>
              <a:gd name="adj" fmla="val 3864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945952"/>
            <a:ext cx="0" cy="1971824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1500" y="1141512"/>
            <a:ext cx="14573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👁️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90575" y="1098352"/>
            <a:ext cx="11575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感知 Perception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1500" y="1371302"/>
            <a:ext cx="2413695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目录扫描、文件监控、项目识别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71500" y="1545134"/>
            <a:ext cx="2413695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Phase 1 ✅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17218" y="945952"/>
            <a:ext cx="2709416" cy="1971824"/>
          </a:xfrm>
          <a:prstGeom prst="roundRect">
            <a:avLst>
              <a:gd name="adj" fmla="val 3864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36268" y="945952"/>
            <a:ext cx="0" cy="1971824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07718" y="1141512"/>
            <a:ext cx="14573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26793" y="1098352"/>
            <a:ext cx="95014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 Memory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07718" y="1371302"/>
            <a:ext cx="241384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四层模型、Markdown + FTS5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07718" y="1545134"/>
            <a:ext cx="241384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Phase 1-2 ✅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53584" y="945952"/>
            <a:ext cx="2709416" cy="1971824"/>
          </a:xfrm>
          <a:prstGeom prst="roundRect">
            <a:avLst>
              <a:gd name="adj" fmla="val 3864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072634" y="945952"/>
            <a:ext cx="0" cy="1971824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44084" y="1141512"/>
            <a:ext cx="14573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💭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63159" y="1098352"/>
            <a:ext cx="100175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思考 Thinking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44084" y="1371302"/>
            <a:ext cx="241384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Loop 心跳、主动分析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44084" y="1545134"/>
            <a:ext cx="241384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Phase 2 ✅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1000" y="3044726"/>
            <a:ext cx="4127450" cy="1971824"/>
          </a:xfrm>
          <a:prstGeom prst="roundRect">
            <a:avLst>
              <a:gd name="adj" fmla="val 3864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00050" y="3044726"/>
            <a:ext cx="0" cy="1971824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" y="3240286"/>
            <a:ext cx="14573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🦾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90575" y="3197126"/>
            <a:ext cx="8376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行动 Action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71500" y="3470077"/>
            <a:ext cx="3860241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两层工具架构、LLM Function Calling、安全控制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71500" y="3643908"/>
            <a:ext cx="3860241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Phase 3 ✅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35401" y="3044726"/>
            <a:ext cx="4127599" cy="1971824"/>
          </a:xfrm>
          <a:prstGeom prst="roundRect">
            <a:avLst>
              <a:gd name="adj" fmla="val 3864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654451" y="3044726"/>
            <a:ext cx="0" cy="1971824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5901" y="3240286"/>
            <a:ext cx="14573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44976" y="3197126"/>
            <a:ext cx="106217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进化 Evolution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25901" y="3470077"/>
            <a:ext cx="386039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交互指纹、模式检测、Skill 自生成、偏好学习、元认知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25901" y="3643908"/>
            <a:ext cx="386039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Phase 4 ✅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03150"/>
            <a:ext cx="829066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注意力工程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7950" y="644426"/>
            <a:ext cx="82906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ENGINEERING — LLM 时代最稀缺的资源不是算力，是注意力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7950" y="977801"/>
            <a:ext cx="3911650" cy="1955899"/>
          </a:xfrm>
          <a:prstGeom prst="roundRect">
            <a:avLst>
              <a:gd name="adj" fmla="val 5195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7950" y="987326"/>
            <a:ext cx="391165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651" y="1149251"/>
            <a:ext cx="36273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核心发现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651" y="1422202"/>
            <a:ext cx="362737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分块翻译、Claude Skills、RAG 都在解决同一个问题——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651" y="1601688"/>
            <a:ext cx="362737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在有限的注意力窗口内，最大化有效信息密度。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651" y="1781175"/>
            <a:ext cx="3627373" cy="13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上下文窗口再大，注意力工程的价值也不会消失。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7950" y="3035201"/>
            <a:ext cx="3911650" cy="1955899"/>
          </a:xfrm>
          <a:prstGeom prst="roundRect">
            <a:avLst>
              <a:gd name="adj" fmla="val 5195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07950" y="3044726"/>
            <a:ext cx="391165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651" y="3206651"/>
            <a:ext cx="36273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四条设计原则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651" y="3479602"/>
            <a:ext cx="362737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信息密度 &gt; 信息量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651" y="3659088"/>
            <a:ext cx="362737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动态加载 &gt; 静态堆积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651" y="3838575"/>
            <a:ext cx="362737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结构化 &gt; 扁平化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651" y="4018062"/>
            <a:ext cx="362737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局部精确 + 全局概览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24400" y="977801"/>
            <a:ext cx="3911650" cy="1952030"/>
          </a:xfrm>
          <a:prstGeom prst="roundRect">
            <a:avLst>
              <a:gd name="adj" fmla="val 5205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02101" y="1130201"/>
            <a:ext cx="36273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三大策略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02101" y="1861840"/>
            <a:ext cx="3556248" cy="0"/>
          </a:xfrm>
          <a:prstGeom prst="line">
            <a:avLst/>
          </a:prstGeom>
          <a:noFill/>
          <a:ln w="9525">
            <a:solidFill>
              <a:srgbClr val="2528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02101" y="1498402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🧩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03627" y="1469827"/>
            <a:ext cx="119682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分块 Chunking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03627" y="1650802"/>
            <a:ext cx="11968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长文档 → 语义完整的小块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902101" y="2322016"/>
            <a:ext cx="3556248" cy="0"/>
          </a:xfrm>
          <a:prstGeom prst="line">
            <a:avLst/>
          </a:prstGeom>
          <a:noFill/>
          <a:ln w="9525">
            <a:solidFill>
              <a:srgbClr val="25283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02101" y="1958578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🗜️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03627" y="1930003"/>
            <a:ext cx="113929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压缩 Compression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03627" y="2110978"/>
            <a:ext cx="11392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保留关键信息，去除冗余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902101" y="2418755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03627" y="2390180"/>
            <a:ext cx="13244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按需加载 Lazy Loading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03627" y="2571155"/>
            <a:ext cx="13244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需要时才注入上下文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24400" y="3031331"/>
            <a:ext cx="3911650" cy="634603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743450" y="3031331"/>
            <a:ext cx="0" cy="634603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40201" y="3158282"/>
            <a:ext cx="3588511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"在信息爆炸的时代，'如何聚焦'</a:t>
            </a:r>
            <a:endParaRPr lang="en-US" sz="10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比'如何获取'更重要。"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03150"/>
            <a:ext cx="829066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🫀 生命体架构：心跳、记忆与思考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7950" y="644426"/>
            <a:ext cx="82906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ARCHITECTURE — 为什么 Daemon 比 Cron Job 更重要？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7950" y="977801"/>
            <a:ext cx="1911400" cy="869603"/>
          </a:xfrm>
          <a:prstGeom prst="roundRect">
            <a:avLst>
              <a:gd name="adj" fmla="val 8763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7950" y="987326"/>
            <a:ext cx="1911400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8326" y="1123801"/>
            <a:ext cx="169064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工具模式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18326" y="1384102"/>
            <a:ext cx="16906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用户请求 → 响应 → 结束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18326" y="1552277"/>
            <a:ext cx="16906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被动等待调用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520851" y="977801"/>
            <a:ext cx="1911400" cy="869603"/>
          </a:xfrm>
          <a:prstGeom prst="roundRect">
            <a:avLst>
              <a:gd name="adj" fmla="val 8763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520851" y="987326"/>
            <a:ext cx="191140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31226" y="1123801"/>
            <a:ext cx="169064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生命体模式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31226" y="1384102"/>
            <a:ext cx="16906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心跳 → 感知 → 思考 → 记忆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631226" y="1552277"/>
            <a:ext cx="16906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即使无人交互也在运行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7950" y="1948904"/>
            <a:ext cx="3924300" cy="974824"/>
          </a:xfrm>
          <a:prstGeom prst="roundRect">
            <a:avLst>
              <a:gd name="adj" fmla="val 10422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85651" y="2101304"/>
            <a:ext cx="364027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🫀 Daemon：真正"活"起来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651" y="2412355"/>
            <a:ext cx="3640276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不是定时任务（Cron），而是心跳守护进程。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651" y="2591842"/>
            <a:ext cx="3640276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心理感受完全不同——它是"真正活着的存在"，而非机械执行的脚本。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7950" y="3025229"/>
            <a:ext cx="3924300" cy="974824"/>
          </a:xfrm>
          <a:prstGeom prst="roundRect">
            <a:avLst>
              <a:gd name="adj" fmla="val 10422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85651" y="3177629"/>
            <a:ext cx="364027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💭 Think Loop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651" y="3488680"/>
            <a:ext cx="3640276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 5 分钟心跳：收集变化 → LLM 分析 → 记录洞察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651" y="3668167"/>
            <a:ext cx="3640276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"你的 AI 助手终于开始'活'起来了。"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11601" y="977801"/>
            <a:ext cx="3924449" cy="1939826"/>
          </a:xfrm>
          <a:prstGeom prst="roundRect">
            <a:avLst>
              <a:gd name="adj" fmla="val 5238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89302" y="1130201"/>
            <a:ext cx="36404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心跳循环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89302" y="1431727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B3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975324" y="1488877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219402" y="1465064"/>
            <a:ext cx="125254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Watchdog 感知文件变化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89302" y="1698427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B3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975324" y="1755577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219402" y="1731764"/>
            <a:ext cx="104927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批量累积，避免噪声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89302" y="1965127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B3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975324" y="2022277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219402" y="1998464"/>
            <a:ext cx="9587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分析变化含义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89302" y="2231827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B3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975324" y="2288977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219402" y="2265164"/>
            <a:ext cx="10365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 写入记忆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89302" y="2498527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B3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975324" y="2555677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219402" y="2531864"/>
            <a:ext cx="11335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FTS5 索引，毫秒检索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11601" y="3019127"/>
            <a:ext cx="3924449" cy="1076027"/>
          </a:xfrm>
          <a:prstGeom prst="roundRect">
            <a:avLst>
              <a:gd name="adj" fmla="val 9442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889302" y="3171527"/>
            <a:ext cx="36404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混合记忆哲学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89302" y="3463528"/>
            <a:ext cx="3640428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"Markdown 存内容，SQLite 做索引"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89302" y="3643015"/>
            <a:ext cx="3640428" cy="274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能直接读 Markdown；人类能直接读 Markdown；Git 能追踪 Markdown。三方通用。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03150"/>
            <a:ext cx="829066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🖨️ 造工具的工具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7950" y="644426"/>
            <a:ext cx="82906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META-TOOLING — "给它一台 3D 打印机，而不是一把锤子"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7950" y="977801"/>
            <a:ext cx="3924300" cy="1193602"/>
          </a:xfrm>
          <a:prstGeom prst="roundRect">
            <a:avLst>
              <a:gd name="adj" fmla="val 10640"/>
            </a:avLst>
          </a:prstGeom>
          <a:solidFill>
            <a:srgbClr val="1A1D2E"/>
          </a:solidFill>
          <a:ln w="19050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5352" y="1174552"/>
            <a:ext cx="354949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🔨 → 🖨️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95352" y="1555552"/>
            <a:ext cx="3549497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不是给它具体的工具，</a:t>
            </a:r>
            <a:endParaRPr lang="en-US" sz="1100" dirty="0"/>
          </a:p>
          <a:p>
            <a:pPr algn="ctr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而是给它造工具的工具。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7950" y="2298353"/>
            <a:ext cx="3924300" cy="1809155"/>
          </a:xfrm>
          <a:prstGeom prst="roundRect">
            <a:avLst>
              <a:gd name="adj" fmla="val 5616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5651" y="2450753"/>
            <a:ext cx="36402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两层工具架构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651" y="3125242"/>
            <a:ext cx="3568898" cy="0"/>
          </a:xfrm>
          <a:prstGeom prst="line">
            <a:avLst/>
          </a:prstGeom>
          <a:noFill/>
          <a:ln w="9525">
            <a:solidFill>
              <a:srgbClr val="2528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651" y="2841278"/>
            <a:ext cx="736402" cy="164902"/>
          </a:xfrm>
          <a:prstGeom prst="roundRect">
            <a:avLst>
              <a:gd name="adj" fmla="val 30806"/>
            </a:avLst>
          </a:prstGeom>
          <a:solidFill>
            <a:srgbClr val="1B3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68915" y="2866579"/>
            <a:ext cx="5698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0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523554" y="2790379"/>
            <a:ext cx="27856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原子工具 — 不可再分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523554" y="2952304"/>
            <a:ext cx="278561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file_read · file_write · shell_exec · http_request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85651" y="3528268"/>
            <a:ext cx="3568898" cy="0"/>
          </a:xfrm>
          <a:prstGeom prst="line">
            <a:avLst/>
          </a:prstGeom>
          <a:noFill/>
          <a:ln w="9525">
            <a:solidFill>
              <a:srgbClr val="2528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651" y="3244304"/>
            <a:ext cx="736402" cy="164902"/>
          </a:xfrm>
          <a:prstGeom prst="roundRect">
            <a:avLst>
              <a:gd name="adj" fmla="val 30806"/>
            </a:avLst>
          </a:prstGeom>
          <a:solidFill>
            <a:srgbClr val="1B3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68915" y="3269605"/>
            <a:ext cx="5698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523554" y="3193405"/>
            <a:ext cx="27856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元工具 — 构造新能力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523554" y="3355330"/>
            <a:ext cx="278561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create_skill · create_tool · create_mcp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85651" y="3661618"/>
            <a:ext cx="736402" cy="164902"/>
          </a:xfrm>
          <a:prstGeom prst="roundRect">
            <a:avLst>
              <a:gd name="adj" fmla="val 30806"/>
            </a:avLst>
          </a:prstGeom>
          <a:solidFill>
            <a:srgbClr val="1B3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68915" y="3686919"/>
            <a:ext cx="5698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523554" y="3596432"/>
            <a:ext cx="27856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涌现工具 — Jarvis 自己创造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523554" y="3758357"/>
            <a:ext cx="27856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从交互中自然生长的能力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711601" y="977801"/>
            <a:ext cx="3924449" cy="1063377"/>
          </a:xfrm>
          <a:prstGeom prst="roundRect">
            <a:avLst>
              <a:gd name="adj" fmla="val 9554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730651" y="977801"/>
            <a:ext cx="0" cy="1063377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27402" y="1130201"/>
            <a:ext cx="36015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核心洞察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27402" y="1409551"/>
            <a:ext cx="3601566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四个原子 + 三个元工具 = 无限可能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27402" y="1589038"/>
            <a:ext cx="3601566" cy="274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最大收获不是 7 个工具，而是验证了：给 Agent 造工具的工具，比给它具体的工具更有价值。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11601" y="2142679"/>
            <a:ext cx="3924449" cy="917823"/>
          </a:xfrm>
          <a:prstGeom prst="roundRect">
            <a:avLst>
              <a:gd name="adj" fmla="val 11070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730651" y="2142679"/>
            <a:ext cx="0" cy="917823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27402" y="2295079"/>
            <a:ext cx="36015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Function Calling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27402" y="2574429"/>
            <a:ext cx="3601566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+ tool_calls，LLM 自主决定何时调用什么工具，支持多轮工具链。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11601" y="3162002"/>
            <a:ext cx="3924449" cy="869603"/>
          </a:xfrm>
          <a:prstGeom prst="roundRect">
            <a:avLst>
              <a:gd name="adj" fmla="val 8763"/>
            </a:avLst>
          </a:prstGeom>
          <a:solidFill>
            <a:srgbClr val="2D1B1B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898827" y="3298478"/>
            <a:ext cx="36209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双重安全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8827" y="3558778"/>
            <a:ext cx="36209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Prompt 层：系统提示词约束行为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98827" y="3726954"/>
            <a:ext cx="36209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工具代码层：路径白名单 + 危险命令拦截 + 超时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03150"/>
            <a:ext cx="829066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涌现 &gt; 预设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7950" y="644426"/>
            <a:ext cx="82906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EMERGENCE OVER PRESETS — "用着用着就变强了"才是数码宝贝的精髓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7950" y="977801"/>
            <a:ext cx="3924300" cy="1015752"/>
          </a:xfrm>
          <a:prstGeom prst="roundRect">
            <a:avLst>
              <a:gd name="adj" fmla="val 10002"/>
            </a:avLst>
          </a:prstGeom>
          <a:solidFill>
            <a:srgbClr val="1A1D2E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59678" y="1139726"/>
            <a:ext cx="362084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观察 → 总结 → 创造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9678" y="1476226"/>
            <a:ext cx="3620845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1-3 是人造工具给 Agent 用；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是 Agent 自己观察、自己创造。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2095054"/>
            <a:ext cx="3924300" cy="1212056"/>
          </a:xfrm>
          <a:prstGeom prst="roundRect">
            <a:avLst>
              <a:gd name="adj" fmla="val 8382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27000" y="2095054"/>
            <a:ext cx="0" cy="1212056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3751" y="2222004"/>
            <a:ext cx="36014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模式检测三法则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23751" y="2501354"/>
            <a:ext cx="360141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做 1 次：可能只是偶然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23751" y="2675186"/>
            <a:ext cx="360141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做 2 次：可能是巧合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23751" y="2849017"/>
            <a:ext cx="360141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做 3 次：大概率是习惯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23751" y="3022848"/>
            <a:ext cx="360141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交互指纹 = 领域 + 工具链 + 时间戳，零 LLM 调用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7950" y="3408611"/>
            <a:ext cx="3924300" cy="864394"/>
          </a:xfrm>
          <a:prstGeom prst="roundRect">
            <a:avLst>
              <a:gd name="adj" fmla="val 11754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27000" y="3408611"/>
            <a:ext cx="0" cy="864394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3751" y="3535561"/>
            <a:ext cx="36014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偏好衰减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23751" y="3814911"/>
            <a:ext cx="360141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模拟人类习惯变化：新偏好权重高，旧偏好自然衰减。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23751" y="3988743"/>
            <a:ext cx="360141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不是"越用越固化"，而是"随你一起变"。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11601" y="977801"/>
            <a:ext cx="3924449" cy="2415480"/>
          </a:xfrm>
          <a:prstGeom prst="roundRect">
            <a:avLst>
              <a:gd name="adj" fmla="val 4206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89302" y="1130201"/>
            <a:ext cx="36404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进化流水线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89302" y="1457176"/>
            <a:ext cx="1162496" cy="190500"/>
          </a:xfrm>
          <a:prstGeom prst="roundRect">
            <a:avLst>
              <a:gd name="adj" fmla="val 26667"/>
            </a:avLst>
          </a:prstGeom>
          <a:solidFill>
            <a:srgbClr val="2528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990802" y="1495276"/>
            <a:ext cx="97868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InteractionFingerprint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89302" y="1749177"/>
            <a:ext cx="519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89302" y="1964978"/>
            <a:ext cx="914251" cy="190500"/>
          </a:xfrm>
          <a:prstGeom prst="roundRect">
            <a:avLst>
              <a:gd name="adj" fmla="val 26667"/>
            </a:avLst>
          </a:prstGeom>
          <a:solidFill>
            <a:srgbClr val="2528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990802" y="2003078"/>
            <a:ext cx="7254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PatternDetector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89302" y="2256979"/>
            <a:ext cx="519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89302" y="2472779"/>
            <a:ext cx="1158776" cy="209550"/>
          </a:xfrm>
          <a:prstGeom prst="roundRect">
            <a:avLst>
              <a:gd name="adj" fmla="val 24242"/>
            </a:avLst>
          </a:prstGeom>
          <a:solidFill>
            <a:srgbClr val="252836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000327" y="2520404"/>
            <a:ext cx="9554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SkillGenerator (LLM)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89302" y="2783830"/>
            <a:ext cx="519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89302" y="2999631"/>
            <a:ext cx="1134219" cy="190500"/>
          </a:xfrm>
          <a:prstGeom prst="roundRect">
            <a:avLst>
              <a:gd name="adj" fmla="val 26667"/>
            </a:avLst>
          </a:prstGeom>
          <a:solidFill>
            <a:srgbClr val="2528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990802" y="3037731"/>
            <a:ext cx="9498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→ Registry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11601" y="3494782"/>
            <a:ext cx="3924449" cy="896094"/>
          </a:xfrm>
          <a:prstGeom prst="roundRect">
            <a:avLst>
              <a:gd name="adj" fmla="val 11338"/>
            </a:avLst>
          </a:prstGeom>
          <a:solidFill>
            <a:srgbClr val="1A1D2E"/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898827" y="3631257"/>
            <a:ext cx="36209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🧭 元认知：盲区检测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98827" y="3923258"/>
            <a:ext cx="362099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五维雷达自评——像游戏迷雾地图，每次交互驱散一片黑暗。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98827" y="4097089"/>
            <a:ext cx="3620997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"代码已经就绪，进化才刚刚开始。"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03150"/>
            <a:ext cx="829066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渐进式信任模型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7950" y="644426"/>
            <a:ext cx="82906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TRUST — 安全不是限制，是进化的阶梯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7950" y="977801"/>
            <a:ext cx="3924300" cy="2808982"/>
          </a:xfrm>
          <a:prstGeom prst="roundRect">
            <a:avLst>
              <a:gd name="adj" fmla="val 3617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1101" y="1155502"/>
            <a:ext cx="358835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信任阶梯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1101" y="1491853"/>
            <a:ext cx="2234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31677" y="1466552"/>
            <a:ext cx="32613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— 沙盒验证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31677" y="1660178"/>
            <a:ext cx="32613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项检查：文件大小、危险导入、语法、工具引用、LLM 审计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65002" y="1866454"/>
            <a:ext cx="33293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1101" y="2072729"/>
            <a:ext cx="2234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31677" y="2047429"/>
            <a:ext cx="32613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 — 人类审核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31677" y="2241054"/>
            <a:ext cx="32613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用户确认后才能启用新 Skill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65002" y="2447330"/>
            <a:ext cx="33293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1101" y="2653605"/>
            <a:ext cx="2234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31677" y="2628305"/>
            <a:ext cx="32613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Probation — 试用期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31677" y="2821930"/>
            <a:ext cx="32613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监控运行效果，收集反馈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65002" y="3028206"/>
            <a:ext cx="33293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1101" y="3234482"/>
            <a:ext cx="2234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31677" y="3209181"/>
            <a:ext cx="32613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— 完全信任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31677" y="3402806"/>
            <a:ext cx="32613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成为稳定能力，自动调用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11601" y="977801"/>
            <a:ext cx="1911400" cy="698302"/>
          </a:xfrm>
          <a:prstGeom prst="roundRect">
            <a:avLst>
              <a:gd name="adj" fmla="val 10912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96018" y="1104751"/>
            <a:ext cx="174256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5,500+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796018" y="1425327"/>
            <a:ext cx="174256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行代码 (LOC)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724501" y="977801"/>
            <a:ext cx="1911548" cy="698302"/>
          </a:xfrm>
          <a:prstGeom prst="roundRect">
            <a:avLst>
              <a:gd name="adj" fmla="val 10912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808916" y="1104751"/>
            <a:ext cx="174271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808916" y="1425327"/>
            <a:ext cx="174271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测试全通过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711601" y="1777603"/>
            <a:ext cx="3924449" cy="927943"/>
          </a:xfrm>
          <a:prstGeom prst="roundRect">
            <a:avLst>
              <a:gd name="adj" fmla="val 10949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730651" y="1777603"/>
            <a:ext cx="0" cy="927943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27402" y="1930003"/>
            <a:ext cx="36015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一点不多，一点不少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27402" y="2222004"/>
            <a:ext cx="360156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每个模块都服务于核心进化能力。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27402" y="2395835"/>
            <a:ext cx="3601566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个模块 · 4 个阶段 · 零冗余。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11601" y="2807047"/>
            <a:ext cx="3924449" cy="938808"/>
          </a:xfrm>
          <a:prstGeom prst="roundRect">
            <a:avLst>
              <a:gd name="adj" fmla="val 10822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730651" y="2807047"/>
            <a:ext cx="0" cy="938808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27402" y="2959447"/>
            <a:ext cx="36015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♻️ 代码的熵增与还债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27402" y="3251448"/>
            <a:ext cx="3601566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"删代码比写代码更需要勇气——但删完之后的轻松感，无与伦比。"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27402" y="3430935"/>
            <a:ext cx="3601566" cy="13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2.5 专门还技术债：删掉的比写的多 = 成功重构。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177701"/>
            <a:ext cx="8290661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🎬 Demo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7950" y="692051"/>
            <a:ext cx="5240089" cy="4324499"/>
          </a:xfrm>
          <a:prstGeom prst="roundRect">
            <a:avLst>
              <a:gd name="adj" fmla="val 1762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4901" y="819001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F5F5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4502" y="819001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FB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14102" y="819001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27CA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1009352"/>
            <a:ext cx="50859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97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jarvis explore ~/projects/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34901" y="1158478"/>
            <a:ext cx="50859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👁️ 发现 12 个项目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34901" y="1307604"/>
            <a:ext cx="50859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97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jarvis -d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34901" y="1456730"/>
            <a:ext cx="50859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🫀 心跳启动 ✅ Daemon (PID: 12847)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34901" y="1605855"/>
            <a:ext cx="50859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97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jarvis "分析 Paper 目录变化"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34901" y="1754981"/>
            <a:ext cx="50859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🦾 调用: file_read → shell_exec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34901" y="1904107"/>
            <a:ext cx="50859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💭 Section 5.3 数据已更新，建议同步修改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34901" y="2053233"/>
            <a:ext cx="50859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97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jarvis patterns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34901" y="2202359"/>
            <a:ext cx="50859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[coding] file_read→shell_exec (5次)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34901" y="2351484"/>
            <a:ext cx="50859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建议创建 Skill: "代码分析助手"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34901" y="2500610"/>
            <a:ext cx="50859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97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jarvis reflect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34901" y="2649736"/>
            <a:ext cx="50859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🧭 五维能力雷达: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34901" y="2798862"/>
            <a:ext cx="50859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感知 ████████░░ 80%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34901" y="2947988"/>
            <a:ext cx="50859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记忆 ██████░░░░ 60%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34901" y="3097113"/>
            <a:ext cx="50859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思考 ███████░░░ 70%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34901" y="3246239"/>
            <a:ext cx="50859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行动 █████████░ 90%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34901" y="3395365"/>
            <a:ext cx="50859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进化 ████░░░░░░ 40%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951190" y="692051"/>
            <a:ext cx="2684859" cy="803821"/>
          </a:xfrm>
          <a:prstGeom prst="roundRect">
            <a:avLst>
              <a:gd name="adj" fmla="val 7900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078141" y="793552"/>
            <a:ext cx="24795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👁️ 自动感知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078141" y="1022152"/>
            <a:ext cx="2479578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扫描目录自动识别项目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951190" y="1572071"/>
            <a:ext cx="2684859" cy="803970"/>
          </a:xfrm>
          <a:prstGeom prst="roundRect">
            <a:avLst>
              <a:gd name="adj" fmla="val 7898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078141" y="1673572"/>
            <a:ext cx="24795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🫀 持续心跳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78141" y="1902172"/>
            <a:ext cx="2479578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后台守护，无交互也在思考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951190" y="2452241"/>
            <a:ext cx="2684859" cy="803970"/>
          </a:xfrm>
          <a:prstGeom prst="roundRect">
            <a:avLst>
              <a:gd name="adj" fmla="val 7898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078141" y="2553742"/>
            <a:ext cx="24795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🦾 工具调用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78141" y="2782342"/>
            <a:ext cx="2479578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Calling 自主执行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951190" y="3332411"/>
            <a:ext cx="2684859" cy="803970"/>
          </a:xfrm>
          <a:prstGeom prst="roundRect">
            <a:avLst>
              <a:gd name="adj" fmla="val 7898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078141" y="3433911"/>
            <a:ext cx="24795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模式检测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078141" y="3662511"/>
            <a:ext cx="2479578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重复模式 → 建议创建 Skill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951190" y="4212580"/>
            <a:ext cx="2684859" cy="803970"/>
          </a:xfrm>
          <a:prstGeom prst="roundRect">
            <a:avLst>
              <a:gd name="adj" fmla="val 7898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078141" y="4314081"/>
            <a:ext cx="24795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🧭 元认知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078141" y="4542681"/>
            <a:ext cx="2479578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自评能力短板，指导进化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28600"/>
            <a:ext cx="82906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🦋 进化全景图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7950" y="720626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四阶段全部完成 — 从空白蛋到能自我进化的 Agent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81000" y="1149102"/>
            <a:ext cx="1554361" cy="3562648"/>
          </a:xfrm>
          <a:prstGeom prst="roundRect">
            <a:avLst>
              <a:gd name="adj" fmla="val 6536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1168152"/>
            <a:ext cx="1554361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3400" y="1364903"/>
            <a:ext cx="2331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🥚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200" y="1441103"/>
            <a:ext cx="5384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21036" y="1412528"/>
            <a:ext cx="16516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3400" y="1834753"/>
            <a:ext cx="1274552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👁️ Explorer 扫描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33400" y="2004864"/>
            <a:ext cx="1274552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👁️ Watchdog 监控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33400" y="2174974"/>
            <a:ext cx="1274552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SQLite 记忆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33400" y="2345085"/>
            <a:ext cx="1274552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LLM 对话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33400" y="4188172"/>
            <a:ext cx="1274552" cy="244376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感知与记忆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87761" y="1149102"/>
            <a:ext cx="1554510" cy="3562648"/>
          </a:xfrm>
          <a:prstGeom prst="roundRect">
            <a:avLst>
              <a:gd name="adj" fmla="val 6536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087761" y="1168152"/>
            <a:ext cx="1554510" cy="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40161" y="1364903"/>
            <a:ext cx="2331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🐣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544961" y="1441103"/>
            <a:ext cx="5384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27946" y="1412528"/>
            <a:ext cx="16516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40161" y="1834753"/>
            <a:ext cx="127470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💭 Think Loop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240161" y="2004864"/>
            <a:ext cx="127470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混合记忆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240161" y="2174974"/>
            <a:ext cx="127470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FTS5 检索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240161" y="2345085"/>
            <a:ext cx="127470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自主洞察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240161" y="4188172"/>
            <a:ext cx="1274704" cy="244376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思考与推理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794671" y="1149102"/>
            <a:ext cx="1554510" cy="3562648"/>
          </a:xfrm>
          <a:prstGeom prst="roundRect">
            <a:avLst>
              <a:gd name="adj" fmla="val 6536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794671" y="1168152"/>
            <a:ext cx="1554510" cy="0"/>
          </a:xfrm>
          <a:prstGeom prst="line">
            <a:avLst/>
          </a:prstGeom>
          <a:noFill/>
          <a:ln w="38100">
            <a:solidFill>
              <a:srgbClr val="6B72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47071" y="1364903"/>
            <a:ext cx="2331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🧹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251871" y="1441103"/>
            <a:ext cx="1981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34855" y="1412528"/>
            <a:ext cx="16516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947071" y="1834753"/>
            <a:ext cx="127470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线程安全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947071" y="2004864"/>
            <a:ext cx="127470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CLI 模块化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947071" y="2174974"/>
            <a:ext cx="127470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PID 管理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947071" y="4188172"/>
            <a:ext cx="1274704" cy="244376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代码质量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501580" y="1149102"/>
            <a:ext cx="1554510" cy="3562648"/>
          </a:xfrm>
          <a:prstGeom prst="roundRect">
            <a:avLst>
              <a:gd name="adj" fmla="val 6536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5501580" y="1168152"/>
            <a:ext cx="1554510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53980" y="1364903"/>
            <a:ext cx="2331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🦋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958780" y="1441103"/>
            <a:ext cx="5384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741765" y="1412528"/>
            <a:ext cx="16516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653980" y="1834753"/>
            <a:ext cx="127470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Tool Registry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653980" y="2004864"/>
            <a:ext cx="127470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🔌 Function Calling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653980" y="2174974"/>
            <a:ext cx="127470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安全控制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653980" y="2345085"/>
            <a:ext cx="127470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元工具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653980" y="4188172"/>
            <a:ext cx="1274704" cy="244376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行动与工具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208490" y="1149102"/>
            <a:ext cx="1554510" cy="3562648"/>
          </a:xfrm>
          <a:prstGeom prst="roundRect">
            <a:avLst>
              <a:gd name="adj" fmla="val 6536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7208490" y="1168152"/>
            <a:ext cx="155451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60890" y="1364903"/>
            <a:ext cx="2331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7665690" y="1441103"/>
            <a:ext cx="5384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448675" y="1412528"/>
            <a:ext cx="16516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360890" y="1834753"/>
            <a:ext cx="127470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模式检测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360890" y="2004864"/>
            <a:ext cx="127470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 Skill 自生成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360890" y="2174974"/>
            <a:ext cx="127470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偏好学习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360890" y="2345085"/>
            <a:ext cx="127470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🧭 元认知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360890" y="4188172"/>
            <a:ext cx="1274704" cy="244376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进化与自生成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81000" y="4902250"/>
            <a:ext cx="1862584" cy="50750"/>
          </a:xfrm>
          <a:prstGeom prst="roundRect">
            <a:avLst>
              <a:gd name="adj" fmla="val 50049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2243584" y="4902250"/>
            <a:ext cx="1862733" cy="50750"/>
          </a:xfrm>
          <a:prstGeom prst="rect">
            <a:avLst/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4106317" y="4902250"/>
            <a:ext cx="931366" cy="50750"/>
          </a:xfrm>
          <a:prstGeom prst="rect">
            <a:avLst/>
          </a:prstGeom>
          <a:solidFill>
            <a:srgbClr val="6B72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5037683" y="4902250"/>
            <a:ext cx="1862584" cy="5075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6900267" y="4902250"/>
            <a:ext cx="1862733" cy="5075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olly/Downloads/Sublime_Workspace/Zola_Workspace/www.polly.com/Jarvis-Agent/ppt/slides/closing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04653" y="639961"/>
            <a:ext cx="514922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🥚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2604653" y="1370112"/>
            <a:ext cx="51492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感知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3305026" y="947886"/>
            <a:ext cx="25913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744528" y="639961"/>
            <a:ext cx="514922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🐣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3744528" y="1370112"/>
            <a:ext cx="51492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思考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444901" y="947886"/>
            <a:ext cx="25913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884402" y="639961"/>
            <a:ext cx="514922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🦋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4884402" y="1370112"/>
            <a:ext cx="51492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行动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584775" y="947886"/>
            <a:ext cx="25913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024277" y="639961"/>
            <a:ext cx="514922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6024277" y="1370112"/>
            <a:ext cx="51492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进化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706777" y="1995487"/>
            <a:ext cx="373029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不是工具，是伙伴。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3017673" y="2719388"/>
            <a:ext cx="310850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500"/>
              </a:spcAft>
              <a:buNone/>
            </a:pPr>
            <a:r>
              <a:rPr lang="en-US" sz="1600" i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代码已经就绪，进化才刚刚开始。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027911" y="3449538"/>
            <a:ext cx="12596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027911" y="3652689"/>
            <a:ext cx="12596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polly.wang/blog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769982" y="3449538"/>
            <a:ext cx="13469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769982" y="3652689"/>
            <a:ext cx="13469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github.com/polly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433465" y="4233714"/>
            <a:ext cx="22770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Jarvis-Agent v0.4.0 · Polly Wang ·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Jarvis-Agent: 数码宝贝式 AI Agent</dc:title>
  <dc:subject>Jarvis-Agent Presentation 2026</dc:subject>
  <dc:creator>Polly Wang</dc:creator>
  <cp:lastModifiedBy>Polly Wang</cp:lastModifiedBy>
  <cp:revision>1</cp:revision>
  <dcterms:created xsi:type="dcterms:W3CDTF">2026-02-08T12:43:32Z</dcterms:created>
  <dcterms:modified xsi:type="dcterms:W3CDTF">2026-02-08T12:43:32Z</dcterms:modified>
</cp:coreProperties>
</file>