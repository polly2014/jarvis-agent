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lly/Downloads/Sublime_Workspace/Zola_Workspace/www.polly.com/Jarvis-Agent/ppt/slides-en/title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66563" y="487412"/>
            <a:ext cx="427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🥚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2966563" y="992237"/>
            <a:ext cx="42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542705" y="687437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94208" y="487412"/>
            <a:ext cx="427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🐣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894208" y="992237"/>
            <a:ext cx="42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470350" y="687437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21854" y="487412"/>
            <a:ext cx="427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🦋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821854" y="992237"/>
            <a:ext cx="42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97996" y="687437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49500" y="487412"/>
            <a:ext cx="42793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749500" y="992237"/>
            <a:ext cx="4279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298574" y="1506587"/>
            <a:ext cx="454670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Jarvis-Agent</a:t>
            </a:r>
            <a:endParaRPr lang="en-US" sz="5200" dirty="0"/>
          </a:p>
        </p:txBody>
      </p:sp>
      <p:sp>
        <p:nvSpPr>
          <p:cNvPr id="15" name="Text 12"/>
          <p:cNvSpPr/>
          <p:nvPr/>
        </p:nvSpPr>
        <p:spPr>
          <a:xfrm>
            <a:off x="2843855" y="2420987"/>
            <a:ext cx="34562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Digimon-Style AI Agent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3324969" y="3065413"/>
            <a:ext cx="2494062" cy="349151"/>
          </a:xfrm>
          <a:prstGeom prst="roundRect">
            <a:avLst>
              <a:gd name="adj" fmla="val 43649"/>
            </a:avLst>
          </a:prstGeom>
          <a:solidFill>
            <a:srgbClr val="1A1D2E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512195" y="3125688"/>
            <a:ext cx="2162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All 4 Phases Complete · v0.4.0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942137" y="3795564"/>
            <a:ext cx="525957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5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scratch. Explore and evolve. Become your partner.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939735" y="4332089"/>
            <a:ext cx="12643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Polly Wang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74502"/>
          </a:xfrm>
          <a:prstGeom prst="rect">
            <a:avLst/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4977"/>
            <a:ext cx="914400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7701"/>
            <a:ext cx="82906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🤔 The Current Agent Dilemma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965002"/>
            <a:ext cx="398335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Tools, Not Partners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330077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Cursor, Windsurf...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1660178"/>
            <a:ext cx="39833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powerful than ever, yet fundamentally unchanged 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218879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request → Agent responds → Done.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574429"/>
            <a:ext cx="3905250" cy="762000"/>
          </a:xfrm>
          <a:prstGeom prst="rect">
            <a:avLst/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2574429"/>
            <a:ext cx="0" cy="762000"/>
          </a:xfrm>
          <a:prstGeom prst="line">
            <a:avLst/>
          </a:prstGeom>
          <a:noFill/>
          <a:ln w="47625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726" y="2726829"/>
            <a:ext cx="35203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fully-loaded toolbox,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you still have to open it yourself."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30651" y="965002"/>
            <a:ext cx="3983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Zeros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30651" y="1330077"/>
            <a:ext cx="3905399" cy="787152"/>
          </a:xfrm>
          <a:prstGeom prst="roundRect">
            <a:avLst>
              <a:gd name="adj" fmla="val 9680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49701" y="1330077"/>
            <a:ext cx="0" cy="78715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452" y="1457027"/>
            <a:ext cx="201748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296644" y="1539478"/>
            <a:ext cx="24350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Memory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96644" y="1736229"/>
            <a:ext cx="24350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conversation starts as "nice to meet you"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30651" y="2218730"/>
            <a:ext cx="3905399" cy="787152"/>
          </a:xfrm>
          <a:prstGeom prst="roundRect">
            <a:avLst>
              <a:gd name="adj" fmla="val 9680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49701" y="2218730"/>
            <a:ext cx="0" cy="78715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46452" y="2345680"/>
            <a:ext cx="201748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296644" y="2428131"/>
            <a:ext cx="21840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Thinking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96644" y="2624882"/>
            <a:ext cx="21840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responds when called, never initiates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30651" y="3107382"/>
            <a:ext cx="3905399" cy="787152"/>
          </a:xfrm>
          <a:prstGeom prst="roundRect">
            <a:avLst>
              <a:gd name="adj" fmla="val 9680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49701" y="3107382"/>
            <a:ext cx="0" cy="78715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6452" y="3234333"/>
            <a:ext cx="201748" cy="533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296644" y="3316784"/>
            <a:ext cx="17170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Evolution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96644" y="3513534"/>
            <a:ext cx="17170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One-size-fits-all generic assistant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 Four Kernels: The Soul of an Agent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15851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PHILOSOPHY — What makes a "real" Agent?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20502"/>
            <a:ext cx="4051250" cy="1888629"/>
          </a:xfrm>
          <a:prstGeom prst="roundRect">
            <a:avLst>
              <a:gd name="adj" fmla="val 5380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920502"/>
            <a:ext cx="0" cy="1888629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3001" y="1108472"/>
            <a:ext cx="1457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92076" y="1072902"/>
            <a:ext cx="14967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on Demand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3001" y="1361629"/>
            <a:ext cx="3730904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Autonomously create capabilities for new tasks, rather than waiting for configuration.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3001" y="1720751"/>
            <a:ext cx="373090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"See water? Build a bridge."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35401" y="920502"/>
            <a:ext cx="4051399" cy="1888629"/>
          </a:xfrm>
          <a:prstGeom prst="roundRect">
            <a:avLst>
              <a:gd name="adj" fmla="val 5380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54451" y="920502"/>
            <a:ext cx="0" cy="1888629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1202" y="1108472"/>
            <a:ext cx="1457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0277" y="1072902"/>
            <a:ext cx="14878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Muscles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51202" y="1361629"/>
            <a:ext cx="373105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Abilities grow naturally from interaction, not from pre-programming.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51202" y="1566565"/>
            <a:ext cx="373105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"Skills aren't configured — they're earned through use."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936081"/>
            <a:ext cx="4051250" cy="1734443"/>
          </a:xfrm>
          <a:prstGeom prst="roundRect">
            <a:avLst>
              <a:gd name="adj" fmla="val 585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2936081"/>
            <a:ext cx="0" cy="173444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001" y="3124051"/>
            <a:ext cx="1457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2076" y="3088481"/>
            <a:ext cx="13475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Persona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3001" y="3377208"/>
            <a:ext cx="373090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(values) by design; muscles (preferences) by emergence.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3001" y="3582144"/>
            <a:ext cx="373090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 Jarvis is unique — because every user is unique."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35401" y="2936081"/>
            <a:ext cx="4051399" cy="1734443"/>
          </a:xfrm>
          <a:prstGeom prst="roundRect">
            <a:avLst>
              <a:gd name="adj" fmla="val 585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654451" y="2936081"/>
            <a:ext cx="0" cy="1734443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1202" y="3124051"/>
            <a:ext cx="14573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0277" y="3088481"/>
            <a:ext cx="13566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Iteration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51202" y="3377208"/>
            <a:ext cx="373105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memory, no evolution. Record → retrieve → associate → grow.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51202" y="3582144"/>
            <a:ext cx="373105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400"/>
              </a:spcBef>
              <a:buNone/>
            </a:pPr>
            <a:r>
              <a:rPr lang="en-US" sz="900" i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"Without memory, there is no evolution."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6669" y="4822924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should not wait to be configured — it should explore on its own.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 Five-Dimensional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15851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RADAR — A complete Agent needs all five dimensions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869752"/>
            <a:ext cx="2709267" cy="2009924"/>
          </a:xfrm>
          <a:prstGeom prst="roundRect">
            <a:avLst>
              <a:gd name="adj" fmla="val 3791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869752"/>
            <a:ext cx="0" cy="2009924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047452"/>
            <a:ext cx="1457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0575" y="1023342"/>
            <a:ext cx="803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" y="1259384"/>
            <a:ext cx="2413695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scanning, file monitoring, project fingerprinting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" y="1581745"/>
            <a:ext cx="2413695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Phase 1 ✅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17218" y="869752"/>
            <a:ext cx="2709416" cy="2009924"/>
          </a:xfrm>
          <a:prstGeom prst="roundRect">
            <a:avLst>
              <a:gd name="adj" fmla="val 3791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36268" y="869752"/>
            <a:ext cx="0" cy="2009924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7718" y="1047452"/>
            <a:ext cx="1457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26793" y="1023342"/>
            <a:ext cx="5961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7718" y="1259384"/>
            <a:ext cx="241384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Four-layer model, Markdown + FTS5 hybrid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07718" y="1433215"/>
            <a:ext cx="241384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Phase 1-2 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53584" y="869752"/>
            <a:ext cx="2709416" cy="2009924"/>
          </a:xfrm>
          <a:prstGeom prst="roundRect">
            <a:avLst>
              <a:gd name="adj" fmla="val 3791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72634" y="869752"/>
            <a:ext cx="0" cy="200992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4084" y="1047452"/>
            <a:ext cx="1457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63159" y="1023342"/>
            <a:ext cx="6475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4084" y="1259384"/>
            <a:ext cx="241384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Loop heartbeat, proactive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44084" y="1433215"/>
            <a:ext cx="241384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Phase 2 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1000" y="3006626"/>
            <a:ext cx="4127450" cy="2009924"/>
          </a:xfrm>
          <a:prstGeom prst="roundRect">
            <a:avLst>
              <a:gd name="adj" fmla="val 3791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00050" y="3006626"/>
            <a:ext cx="0" cy="2009924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" y="3184327"/>
            <a:ext cx="1457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🦾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0575" y="3160216"/>
            <a:ext cx="483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1500" y="3396258"/>
            <a:ext cx="386024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tool architecture, LLM Function Calling, safety controls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" y="3570089"/>
            <a:ext cx="386024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Phase 3 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35401" y="3006626"/>
            <a:ext cx="4127599" cy="2009924"/>
          </a:xfrm>
          <a:prstGeom prst="roundRect">
            <a:avLst>
              <a:gd name="adj" fmla="val 3791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654451" y="3006626"/>
            <a:ext cx="0" cy="200992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5901" y="3184327"/>
            <a:ext cx="14573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44976" y="3160216"/>
            <a:ext cx="7081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25901" y="3396258"/>
            <a:ext cx="3860393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fingerprinting, pattern detection, skill self-generation, preference learning, metacognition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5901" y="3718620"/>
            <a:ext cx="386039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Phase 4 ✅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Attention Engineering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1585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SCARCEST RESOURCE — In the LLM era, it's not compute — it's attention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911126"/>
            <a:ext cx="3911650" cy="1989237"/>
          </a:xfrm>
          <a:prstGeom prst="roundRect">
            <a:avLst>
              <a:gd name="adj" fmla="val 510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920651"/>
            <a:ext cx="391165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651" y="1082576"/>
            <a:ext cx="36273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Discovery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651" y="1317427"/>
            <a:ext cx="3627373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Chunked translation, Claude Skills, and RAG all solve the same problem 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651" y="1651099"/>
            <a:ext cx="3627373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Maximizing information density within a limited attention window.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651" y="1984772"/>
            <a:ext cx="3627373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context windows won't eliminate the need for attention engineering.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7950" y="3001863"/>
            <a:ext cx="3911650" cy="1989237"/>
          </a:xfrm>
          <a:prstGeom prst="roundRect">
            <a:avLst>
              <a:gd name="adj" fmla="val 510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07950" y="3011388"/>
            <a:ext cx="391165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651" y="3173313"/>
            <a:ext cx="36273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Design Principles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651" y="3408164"/>
            <a:ext cx="36273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Information density &gt; information volume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651" y="3587651"/>
            <a:ext cx="36273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Dynamic loading &gt; static packing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651" y="3767138"/>
            <a:ext cx="36273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Structured &gt; flat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651" y="3946624"/>
            <a:ext cx="362737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Local precision + global overview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24400" y="911126"/>
            <a:ext cx="3911650" cy="1732955"/>
          </a:xfrm>
          <a:prstGeom prst="roundRect">
            <a:avLst>
              <a:gd name="adj" fmla="val 5863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02101" y="1063526"/>
            <a:ext cx="36273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Strategies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02101" y="1690390"/>
            <a:ext cx="3556248" cy="0"/>
          </a:xfrm>
          <a:prstGeom prst="line">
            <a:avLst/>
          </a:prstGeom>
          <a:noFill/>
          <a:ln w="9525">
            <a:solidFill>
              <a:srgbClr val="2528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2101" y="1355527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03627" y="1360289"/>
            <a:ext cx="24235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03627" y="1503164"/>
            <a:ext cx="24235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documents → semantically complete segments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902101" y="2093416"/>
            <a:ext cx="3556248" cy="0"/>
          </a:xfrm>
          <a:prstGeom prst="line">
            <a:avLst/>
          </a:prstGeom>
          <a:noFill/>
          <a:ln w="9525">
            <a:solidFill>
              <a:srgbClr val="2528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2101" y="1758553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🗜️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03627" y="1763316"/>
            <a:ext cx="16006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03627" y="1906191"/>
            <a:ext cx="16006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key info, remove redundancy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02101" y="2161580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03627" y="2166342"/>
            <a:ext cx="1479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Loading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03627" y="2309217"/>
            <a:ext cx="14797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context only when needed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24400" y="2745581"/>
            <a:ext cx="3911650" cy="634603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743450" y="2745581"/>
            <a:ext cx="0" cy="634603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40201" y="2872532"/>
            <a:ext cx="3588511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an age of information overload,</a:t>
            </a:r>
            <a:endParaRPr lang="en-US" sz="100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'how to focus' matters more than 'how to access'."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🫀 Living Architecture: Heartbeat, Memory, Thought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1585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DAEMON MATTERS — More than a cron job, it's a living presence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911126"/>
            <a:ext cx="1911400" cy="926753"/>
          </a:xfrm>
          <a:prstGeom prst="roundRect">
            <a:avLst>
              <a:gd name="adj" fmla="val 8222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920651"/>
            <a:ext cx="191140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8326" y="1057126"/>
            <a:ext cx="16906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Tool Mode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326" y="1317427"/>
            <a:ext cx="16906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asks → responds → done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8326" y="1457027"/>
            <a:ext cx="16906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Passive, waits to be called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20851" y="911126"/>
            <a:ext cx="1911400" cy="926753"/>
          </a:xfrm>
          <a:prstGeom prst="roundRect">
            <a:avLst>
              <a:gd name="adj" fmla="val 8222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520851" y="920651"/>
            <a:ext cx="19114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1226" y="1057126"/>
            <a:ext cx="16906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Living Mode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31226" y="1317427"/>
            <a:ext cx="16906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 → sense → think → remember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31226" y="1571327"/>
            <a:ext cx="16906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even with no interaction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1939379"/>
            <a:ext cx="3924300" cy="1129010"/>
          </a:xfrm>
          <a:prstGeom prst="roundRect">
            <a:avLst>
              <a:gd name="adj" fmla="val 8999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651" y="2091779"/>
            <a:ext cx="36402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🫀 Daemon: Truly "Alive"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651" y="2402830"/>
            <a:ext cx="364027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scheduled task (cron), but a heartbeat daemon process.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651" y="2582317"/>
            <a:ext cx="364027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psychological difference is profound — it feels like a living presence, not a mechanical script.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950" y="3169890"/>
            <a:ext cx="3924300" cy="974824"/>
          </a:xfrm>
          <a:prstGeom prst="roundRect">
            <a:avLst>
              <a:gd name="adj" fmla="val 10422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5651" y="3322290"/>
            <a:ext cx="364027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 Think Loop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651" y="3633341"/>
            <a:ext cx="364027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5 minutes: collect changes → LLM analysis → record insights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651" y="3812828"/>
            <a:ext cx="364027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AI assistant is finally coming alive."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11601" y="911126"/>
            <a:ext cx="3924449" cy="1892201"/>
          </a:xfrm>
          <a:prstGeom prst="roundRect">
            <a:avLst>
              <a:gd name="adj" fmla="val 5369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89302" y="1063526"/>
            <a:ext cx="36404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 Cycle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89302" y="131742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75324" y="1374577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19402" y="1365052"/>
            <a:ext cx="15834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Watchdog detects file changes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89302" y="158412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75324" y="1641277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9402" y="1631752"/>
            <a:ext cx="17692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accumulation, noise filtering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89302" y="185082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75324" y="1907977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19402" y="1898452"/>
            <a:ext cx="17758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analyzes change significance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89302" y="211752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975324" y="2174677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19402" y="2165152"/>
            <a:ext cx="1850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insights to Markdown memory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89302" y="238422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975324" y="2441377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19402" y="2431852"/>
            <a:ext cx="15875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FTS5 index for instant retrieval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11601" y="2904827"/>
            <a:ext cx="3924449" cy="1076027"/>
          </a:xfrm>
          <a:prstGeom prst="roundRect">
            <a:avLst>
              <a:gd name="adj" fmla="val 9442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89302" y="3057227"/>
            <a:ext cx="3640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Hybrid Memory Philosophy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89302" y="3349228"/>
            <a:ext cx="3640428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"Markdown stores content, SQLite indexes it"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89302" y="3528715"/>
            <a:ext cx="3640428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read Markdown natively. Humans read Markdown natively. Git tracks Markdown natively. Universal format.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🖨️ Tools That Build Tools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1585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META-TOOLING — "Give it a 3D printer, not a hammer"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911126"/>
            <a:ext cx="3924300" cy="1193602"/>
          </a:xfrm>
          <a:prstGeom prst="roundRect">
            <a:avLst>
              <a:gd name="adj" fmla="val 10640"/>
            </a:avLst>
          </a:prstGeom>
          <a:solidFill>
            <a:srgbClr val="1A1D2E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352" y="1107877"/>
            <a:ext cx="35494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🔨 → 🖨️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5352" y="1488877"/>
            <a:ext cx="354949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give it specific tools.</a:t>
            </a:r>
            <a:endParaRPr lang="en-US" sz="1100" dirty="0"/>
          </a:p>
          <a:p>
            <a:pPr algn="ct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tools that create tools.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950" y="2231678"/>
            <a:ext cx="3924300" cy="1647230"/>
          </a:xfrm>
          <a:prstGeom prst="roundRect">
            <a:avLst>
              <a:gd name="adj" fmla="val 616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51" y="2384078"/>
            <a:ext cx="36402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Two-Layer Tool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651" y="2982367"/>
            <a:ext cx="3568898" cy="0"/>
          </a:xfrm>
          <a:prstGeom prst="line">
            <a:avLst/>
          </a:prstGeom>
          <a:noFill/>
          <a:ln w="9525">
            <a:solidFill>
              <a:srgbClr val="2528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651" y="2712690"/>
            <a:ext cx="736402" cy="164902"/>
          </a:xfrm>
          <a:prstGeom prst="roundRect">
            <a:avLst>
              <a:gd name="adj" fmla="val 30806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8915" y="2737991"/>
            <a:ext cx="569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0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23554" y="2676079"/>
            <a:ext cx="2785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Tools — irreducible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23554" y="2809429"/>
            <a:ext cx="2785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file_read · file_write · shell_exec · http_request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5651" y="3356818"/>
            <a:ext cx="3568898" cy="0"/>
          </a:xfrm>
          <a:prstGeom prst="line">
            <a:avLst/>
          </a:prstGeom>
          <a:noFill/>
          <a:ln w="9525">
            <a:solidFill>
              <a:srgbClr val="2528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651" y="3087142"/>
            <a:ext cx="736402" cy="164902"/>
          </a:xfrm>
          <a:prstGeom prst="roundRect">
            <a:avLst>
              <a:gd name="adj" fmla="val 30806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8915" y="3112443"/>
            <a:ext cx="569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23554" y="3050530"/>
            <a:ext cx="2785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Tools — build new capabilities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23554" y="3183880"/>
            <a:ext cx="2785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create_skill · create_tool · create_mcp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85651" y="3461593"/>
            <a:ext cx="736402" cy="164902"/>
          </a:xfrm>
          <a:prstGeom prst="roundRect">
            <a:avLst>
              <a:gd name="adj" fmla="val 30806"/>
            </a:avLst>
          </a:prstGeom>
          <a:solidFill>
            <a:srgbClr val="1B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8915" y="3486894"/>
            <a:ext cx="569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23554" y="3424982"/>
            <a:ext cx="2785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Emergent Tools — created by Jarvis itself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23554" y="3558332"/>
            <a:ext cx="27856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Abilities that grow from interaction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11601" y="911126"/>
            <a:ext cx="3924449" cy="1063377"/>
          </a:xfrm>
          <a:prstGeom prst="roundRect">
            <a:avLst>
              <a:gd name="adj" fmla="val 9554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30651" y="911126"/>
            <a:ext cx="0" cy="106337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27402" y="1063526"/>
            <a:ext cx="3601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Key Insight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27402" y="1342876"/>
            <a:ext cx="3601566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atomic tools + 3 meta tools = infinite possibilities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27402" y="1522363"/>
            <a:ext cx="3601566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win of Phase 3 isn't 7 tools — it's proving that tools-for-building-tools are more valuable than any specific tool.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11601" y="2076004"/>
            <a:ext cx="3924449" cy="917823"/>
          </a:xfrm>
          <a:prstGeom prst="roundRect">
            <a:avLst>
              <a:gd name="adj" fmla="val 11070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30651" y="2076004"/>
            <a:ext cx="0" cy="91782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27402" y="2228404"/>
            <a:ext cx="3601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Function Calling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27402" y="2507754"/>
            <a:ext cx="360156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+ tool_calls — the LLM autonomously decides when and what to invoke, supporting multi-turn tool chains.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11601" y="3095327"/>
            <a:ext cx="3924449" cy="812453"/>
          </a:xfrm>
          <a:prstGeom prst="roundRect">
            <a:avLst>
              <a:gd name="adj" fmla="val 9379"/>
            </a:avLst>
          </a:prstGeom>
          <a:solidFill>
            <a:srgbClr val="2D1B1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98827" y="3231803"/>
            <a:ext cx="36209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Dual Safety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8827" y="3492103"/>
            <a:ext cx="36209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Prompt Layer: system prompt constrains behavior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98827" y="3631704"/>
            <a:ext cx="36209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Code Layer: path whitelist + dangerous cmd blocking + timeout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Emergence &gt; Presets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1585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SELF-EVOLUTION — "Getting stronger just by using it" is the essence of Digimon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911126"/>
            <a:ext cx="3924300" cy="968127"/>
          </a:xfrm>
          <a:prstGeom prst="roundRect">
            <a:avLst>
              <a:gd name="adj" fmla="val 10495"/>
            </a:avLst>
          </a:prstGeom>
          <a:solidFill>
            <a:srgbClr val="1A1D2E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9678" y="1073051"/>
            <a:ext cx="362084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→ Summarize → Create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9678" y="1361926"/>
            <a:ext cx="362084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1-3: humans build tools for the Agent.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the Agent observes, learns, and creates on its own.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1980754"/>
            <a:ext cx="3924300" cy="1212056"/>
          </a:xfrm>
          <a:prstGeom prst="roundRect">
            <a:avLst>
              <a:gd name="adj" fmla="val 8382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27000" y="1980754"/>
            <a:ext cx="0" cy="121205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3751" y="2107704"/>
            <a:ext cx="36014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Pattern Detection: Rule of Three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3751" y="2387054"/>
            <a:ext cx="360141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once: might be accidental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3751" y="2560886"/>
            <a:ext cx="360141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twice: might be coincidence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3751" y="2734717"/>
            <a:ext cx="360141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three times: probably a habit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3751" y="2908548"/>
            <a:ext cx="360141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 = domain + tool chain + timestamp, zero LLM calls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7950" y="3294311"/>
            <a:ext cx="3924300" cy="1012924"/>
          </a:xfrm>
          <a:prstGeom prst="roundRect">
            <a:avLst>
              <a:gd name="adj" fmla="val 10030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3294311"/>
            <a:ext cx="0" cy="1012924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751" y="3421261"/>
            <a:ext cx="36014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Preference Decay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3751" y="3700611"/>
            <a:ext cx="3601414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Mimics human habit change: new preferences weigh more, old ones naturally decay.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3751" y="4022973"/>
            <a:ext cx="360141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"more rigid over time" but "evolving alongside you."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11601" y="911126"/>
            <a:ext cx="3924449" cy="2367855"/>
          </a:xfrm>
          <a:prstGeom prst="roundRect">
            <a:avLst>
              <a:gd name="adj" fmla="val 4291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89302" y="1063526"/>
            <a:ext cx="36404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Pipeline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89302" y="1342876"/>
            <a:ext cx="1162496" cy="190500"/>
          </a:xfrm>
          <a:prstGeom prst="roundRect">
            <a:avLst>
              <a:gd name="adj" fmla="val 26667"/>
            </a:avLst>
          </a:prstGeom>
          <a:solidFill>
            <a:srgbClr val="2528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90802" y="1380976"/>
            <a:ext cx="9786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InteractionFingerprint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89302" y="1634877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89302" y="1850678"/>
            <a:ext cx="914251" cy="190500"/>
          </a:xfrm>
          <a:prstGeom prst="roundRect">
            <a:avLst>
              <a:gd name="adj" fmla="val 26667"/>
            </a:avLst>
          </a:prstGeom>
          <a:solidFill>
            <a:srgbClr val="2528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90802" y="1888778"/>
            <a:ext cx="7254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PatternDetector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89302" y="2142679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89302" y="2358479"/>
            <a:ext cx="1158776" cy="209550"/>
          </a:xfrm>
          <a:prstGeom prst="roundRect">
            <a:avLst>
              <a:gd name="adj" fmla="val 24242"/>
            </a:avLst>
          </a:prstGeom>
          <a:solidFill>
            <a:srgbClr val="252836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00327" y="2406104"/>
            <a:ext cx="955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SkillGenerator (LLM)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89302" y="2669530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89302" y="2885331"/>
            <a:ext cx="1134219" cy="190500"/>
          </a:xfrm>
          <a:prstGeom prst="roundRect">
            <a:avLst>
              <a:gd name="adj" fmla="val 26667"/>
            </a:avLst>
          </a:prstGeom>
          <a:solidFill>
            <a:srgbClr val="2528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90802" y="2923431"/>
            <a:ext cx="9498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→ Registry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11601" y="3380482"/>
            <a:ext cx="3924449" cy="1044625"/>
          </a:xfrm>
          <a:prstGeom prst="roundRect">
            <a:avLst>
              <a:gd name="adj" fmla="val 9726"/>
            </a:avLst>
          </a:prstGeom>
          <a:solidFill>
            <a:srgbClr val="1A1D2E"/>
          </a:solidFill>
          <a:ln w="9525">
            <a:solidFill>
              <a:srgbClr val="8B5C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98827" y="3516957"/>
            <a:ext cx="36209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Metacognition: Blind Spot Detection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8827" y="3808958"/>
            <a:ext cx="362099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Five-dimension self-assessment radar — like fog-of-war in a game, each interaction clears a patch of darkness.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8827" y="4131320"/>
            <a:ext cx="3620997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code is ready. Evolution has just begun."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03150"/>
            <a:ext cx="829066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Progressive Trust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1585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AS A LADDER — Security is not a constraint, it's the staircase to evolution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7950" y="911126"/>
            <a:ext cx="3924300" cy="2567880"/>
          </a:xfrm>
          <a:prstGeom prst="roundRect">
            <a:avLst>
              <a:gd name="adj" fmla="val 3957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1101" y="1088827"/>
            <a:ext cx="35883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Ladder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11101" y="1361777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1677" y="1369665"/>
            <a:ext cx="3261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Automated Validation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1677" y="1525191"/>
            <a:ext cx="3261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checks: file size, dangerous imports, syntax, tool refs, LLM audit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65002" y="1710928"/>
            <a:ext cx="33293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1101" y="1891903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1677" y="1899791"/>
            <a:ext cx="3261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 — Manual Approval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1677" y="2055316"/>
            <a:ext cx="3261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confirms before enabling a new Skill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65002" y="2241054"/>
            <a:ext cx="33293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1101" y="2422029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1677" y="2429917"/>
            <a:ext cx="3261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Probation — Trial Period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1677" y="2585442"/>
            <a:ext cx="3261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effectiveness, collect feedback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5002" y="2771180"/>
            <a:ext cx="33293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1101" y="2952155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31677" y="2960043"/>
            <a:ext cx="32613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— Full Autonomy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1677" y="3115568"/>
            <a:ext cx="326137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a stable capability, auto-invoked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11601" y="911126"/>
            <a:ext cx="1911400" cy="669727"/>
          </a:xfrm>
          <a:prstGeom prst="roundRect">
            <a:avLst>
              <a:gd name="adj" fmla="val 1137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6018" y="1038076"/>
            <a:ext cx="174256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5,500+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96018" y="1358652"/>
            <a:ext cx="174256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724501" y="911126"/>
            <a:ext cx="1911548" cy="669727"/>
          </a:xfrm>
          <a:prstGeom prst="roundRect">
            <a:avLst>
              <a:gd name="adj" fmla="val 1137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08916" y="1038076"/>
            <a:ext cx="174271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08916" y="1358652"/>
            <a:ext cx="174271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11601" y="1682353"/>
            <a:ext cx="3924449" cy="927943"/>
          </a:xfrm>
          <a:prstGeom prst="roundRect">
            <a:avLst>
              <a:gd name="adj" fmla="val 10949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30651" y="1682353"/>
            <a:ext cx="0" cy="92794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7402" y="1834753"/>
            <a:ext cx="3601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Nothing More, Nothing Less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27402" y="2126754"/>
            <a:ext cx="360156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 serves the core evolutionary capability.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27402" y="2300585"/>
            <a:ext cx="3601566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modules · 4 phases · zero redundancy.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11601" y="2711797"/>
            <a:ext cx="3924449" cy="1230213"/>
          </a:xfrm>
          <a:prstGeom prst="roundRect">
            <a:avLst>
              <a:gd name="adj" fmla="val 8259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730651" y="2711797"/>
            <a:ext cx="0" cy="1230213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7402" y="2864197"/>
            <a:ext cx="36015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 Code Entropy and Paying Debt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27402" y="3156198"/>
            <a:ext cx="3601566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"Deleting code takes more courage than writing it — but the relief afterward is unmatched."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27402" y="3489871"/>
            <a:ext cx="3601566" cy="274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2.5 was dedicated to technical debt: deleting more than writing = successful refactoring.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177701"/>
            <a:ext cx="829066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Demo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692051"/>
            <a:ext cx="5240089" cy="4324499"/>
          </a:xfrm>
          <a:prstGeom prst="roundRect">
            <a:avLst>
              <a:gd name="adj" fmla="val 176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81900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5F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4502" y="81900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FFB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102" y="819001"/>
            <a:ext cx="88850" cy="88850"/>
          </a:xfrm>
          <a:prstGeom prst="roundRect">
            <a:avLst>
              <a:gd name="adj" fmla="val 1029150"/>
            </a:avLst>
          </a:prstGeom>
          <a:solidFill>
            <a:srgbClr val="27C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009352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jarvis explore ~/projects/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34901" y="1158478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👁️ Discovered 12 projects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34901" y="1307604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jarvis -d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34901" y="1456730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🫀 Heartbeat started ✅ Daemon (PID: 12847)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34901" y="1605855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jarvis "analyze Paper directory changes"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34901" y="1754981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🦾 Calling: file_read → shell_exec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4901" y="1904107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💭 Section 5.3 data updated, suggest syncing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34901" y="2053233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jarvis patterns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34901" y="2202359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[coding] file_read→shell_exec (5 times)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34901" y="2351484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Suggest creating Skill: "code-analyzer"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34901" y="2500610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jarvis reflect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4901" y="2649736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🧭 Five-Dimension Radar: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34901" y="2798862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Perception  ████████░░ 80%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34901" y="2947988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     ██████░░░░ 60%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4901" y="3097113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Thinking    ███████░░░ 70%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4901" y="3246239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     █████████░ 90%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34901" y="3395365"/>
            <a:ext cx="50859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7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Evolution   ████░░░░░░ 40%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51190" y="692051"/>
            <a:ext cx="2684859" cy="803821"/>
          </a:xfrm>
          <a:prstGeom prst="roundRect">
            <a:avLst>
              <a:gd name="adj" fmla="val 7900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78141" y="793552"/>
            <a:ext cx="2479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Auto Perception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78141" y="1022152"/>
            <a:ext cx="247957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dirs, identify projects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951190" y="1572071"/>
            <a:ext cx="2684859" cy="803970"/>
          </a:xfrm>
          <a:prstGeom prst="roundRect">
            <a:avLst>
              <a:gd name="adj" fmla="val 789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78141" y="1673572"/>
            <a:ext cx="2479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🫀 Persistent Heartbeat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78141" y="1902172"/>
            <a:ext cx="247957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daemon, thinks alone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951190" y="2452241"/>
            <a:ext cx="2684859" cy="803970"/>
          </a:xfrm>
          <a:prstGeom prst="roundRect">
            <a:avLst>
              <a:gd name="adj" fmla="val 789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78141" y="2553742"/>
            <a:ext cx="2479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🦾 Tool Invocation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78141" y="2782342"/>
            <a:ext cx="247957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Calling, autonomous exec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51190" y="3332411"/>
            <a:ext cx="2684859" cy="803970"/>
          </a:xfrm>
          <a:prstGeom prst="roundRect">
            <a:avLst>
              <a:gd name="adj" fmla="val 789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078141" y="3433911"/>
            <a:ext cx="2479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Pattern Detection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78141" y="3662511"/>
            <a:ext cx="247957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patterns → suggest Skills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951190" y="4212580"/>
            <a:ext cx="2684859" cy="803970"/>
          </a:xfrm>
          <a:prstGeom prst="roundRect">
            <a:avLst>
              <a:gd name="adj" fmla="val 7898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78141" y="4314081"/>
            <a:ext cx="24795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Metacognition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078141" y="4542681"/>
            <a:ext cx="247957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Self-assess blind spots, guide growth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28600"/>
            <a:ext cx="82906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🦋 Evolution Panorama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692051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phases complete — from a blank egg to a self-evolving Agent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1000" y="1072902"/>
            <a:ext cx="1554361" cy="3638848"/>
          </a:xfrm>
          <a:prstGeom prst="roundRect">
            <a:avLst>
              <a:gd name="adj" fmla="val 6536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091952"/>
            <a:ext cx="1554361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288703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364903"/>
            <a:ext cx="538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21036" y="1336328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3400" y="1758553"/>
            <a:ext cx="12745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Explorer scanning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3400" y="1928664"/>
            <a:ext cx="12745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👁️ Watchdog monitoring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3400" y="2098774"/>
            <a:ext cx="12745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SQLite memory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3400" y="2268885"/>
            <a:ext cx="127455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LLM conversation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33400" y="4216747"/>
            <a:ext cx="1274552" cy="215801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+ Memory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87761" y="1072902"/>
            <a:ext cx="1554510" cy="3638848"/>
          </a:xfrm>
          <a:prstGeom prst="roundRect">
            <a:avLst>
              <a:gd name="adj" fmla="val 6536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087761" y="1091952"/>
            <a:ext cx="1554510" cy="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161" y="1288703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44961" y="1364903"/>
            <a:ext cx="538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7946" y="1336328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0161" y="1758553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 Think Loop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240161" y="192866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Hybrid memory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240161" y="209877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FTS5 retrieval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40161" y="2268885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Proactive insights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240161" y="4216747"/>
            <a:ext cx="1274704" cy="215801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+ Reasoning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94671" y="1072902"/>
            <a:ext cx="1554510" cy="3638848"/>
          </a:xfrm>
          <a:prstGeom prst="roundRect">
            <a:avLst>
              <a:gd name="adj" fmla="val 6536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794671" y="1091952"/>
            <a:ext cx="1554510" cy="0"/>
          </a:xfrm>
          <a:prstGeom prst="line">
            <a:avLst/>
          </a:prstGeom>
          <a:noFill/>
          <a:ln w="381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47071" y="1288703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51871" y="1364903"/>
            <a:ext cx="1981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34855" y="1336328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47071" y="1758553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Thread safety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47071" y="192866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CLI modularization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47071" y="209877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PID management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947071" y="4216747"/>
            <a:ext cx="1274704" cy="215801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01580" y="1072902"/>
            <a:ext cx="1554510" cy="3638848"/>
          </a:xfrm>
          <a:prstGeom prst="roundRect">
            <a:avLst>
              <a:gd name="adj" fmla="val 6536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501580" y="1091952"/>
            <a:ext cx="155451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3980" y="1288703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🦋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958780" y="1364903"/>
            <a:ext cx="538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41765" y="1336328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53980" y="1758553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Tool Registry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53980" y="192866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Function Calling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53980" y="209877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Safety controls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53980" y="2268885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Meta tools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53980" y="4216747"/>
            <a:ext cx="1274704" cy="215801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+ Tools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08490" y="1072902"/>
            <a:ext cx="1554510" cy="3638848"/>
          </a:xfrm>
          <a:prstGeom prst="roundRect">
            <a:avLst>
              <a:gd name="adj" fmla="val 6536"/>
            </a:avLst>
          </a:prstGeom>
          <a:solidFill>
            <a:srgbClr val="1A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7208490" y="1091952"/>
            <a:ext cx="155451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60890" y="1288703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665690" y="1364903"/>
            <a:ext cx="5384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48675" y="1336328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60890" y="1758553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Pattern detection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60890" y="192866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Skill self-generation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60890" y="2098774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Preference learning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60890" y="2268885"/>
            <a:ext cx="127470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Metacognition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60890" y="4216747"/>
            <a:ext cx="1274704" cy="215801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Evolution + Self-Gen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81000" y="4902250"/>
            <a:ext cx="1862584" cy="50750"/>
          </a:xfrm>
          <a:prstGeom prst="roundRect">
            <a:avLst>
              <a:gd name="adj" fmla="val 50049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243584" y="4902250"/>
            <a:ext cx="1862733" cy="5075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106317" y="4902250"/>
            <a:ext cx="931366" cy="5075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037683" y="4902250"/>
            <a:ext cx="1862584" cy="5075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900267" y="4902250"/>
            <a:ext cx="1862733" cy="507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olly/Downloads/Sublime_Workspace/Zola_Workspace/www.polly.com/Jarvis-Agent/ppt/slides-en/closing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04653" y="735211"/>
            <a:ext cx="51492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🥚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2604653" y="1465362"/>
            <a:ext cx="514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305026" y="102408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744528" y="735211"/>
            <a:ext cx="51492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🐣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744528" y="1465362"/>
            <a:ext cx="514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444901" y="102408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884402" y="735211"/>
            <a:ext cx="51492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🦋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884402" y="1465362"/>
            <a:ext cx="514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84775" y="102408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024277" y="735211"/>
            <a:ext cx="51492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6024277" y="1465362"/>
            <a:ext cx="5149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628900" y="2052637"/>
            <a:ext cx="38862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Tool. A Partner.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2540551" y="2671763"/>
            <a:ext cx="406274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500"/>
              </a:spcAft>
              <a:buNone/>
            </a:pPr>
            <a:r>
              <a:rPr lang="en-US" sz="1600" i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is ready. Evolution has just begun.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027911" y="3354288"/>
            <a:ext cx="1259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27911" y="3557439"/>
            <a:ext cx="12596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polly.wang/blog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9982" y="3354288"/>
            <a:ext cx="13469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69982" y="3557439"/>
            <a:ext cx="13469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github.com/polly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433465" y="4138464"/>
            <a:ext cx="2277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Jarvis-Agent v0.4.0 · Polly Wang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Jarvis-Agent: A Digimon-Style AI Agent</dc:title>
  <dc:subject>Jarvis-Agent Presentation 2026 (English)</dc:subject>
  <dc:creator>Polly Wang</dc:creator>
  <cp:lastModifiedBy>Polly Wang</cp:lastModifiedBy>
  <cp:revision>1</cp:revision>
  <dcterms:created xsi:type="dcterms:W3CDTF">2026-02-08T13:05:09Z</dcterms:created>
  <dcterms:modified xsi:type="dcterms:W3CDTF">2026-02-08T13:05:09Z</dcterms:modified>
</cp:coreProperties>
</file>